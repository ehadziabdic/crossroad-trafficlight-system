
<file path=[Content_Types].xml><?xml version="1.0" encoding="utf-8"?>
<Types xmlns="http://schemas.openxmlformats.org/package/2006/content-types">
  <Default Extension="glb" ContentType="model/gltf.binary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68" r:id="rId4"/>
    <p:sldId id="262" r:id="rId5"/>
    <p:sldId id="263" r:id="rId6"/>
    <p:sldId id="270" r:id="rId7"/>
    <p:sldId id="274" r:id="rId8"/>
    <p:sldId id="271" r:id="rId9"/>
    <p:sldId id="264" r:id="rId10"/>
    <p:sldId id="276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/Tww0PHtGgdCumJNeBf5qV+6A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4EE"/>
    <a:srgbClr val="0E13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46" autoAdjust="0"/>
  </p:normalViewPr>
  <p:slideViewPr>
    <p:cSldViewPr snapToGrid="0">
      <p:cViewPr varScale="1">
        <p:scale>
          <a:sx n="101" d="100"/>
          <a:sy n="101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baf295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baf295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A366-5A03-B97B-CA14-63A5D1D87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DBDA0-D353-4673-D12F-6A9894B37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1C446-69EF-EB68-1B86-F93A15EFE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8719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26141-1749-1BCE-98B2-D5DF48289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B8841-3EEA-7630-15C7-D2A71CF4E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91FCC-E2B5-8061-1F35-2442DF137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5419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69D77-AF25-128F-413F-0078361BF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0C908-37F7-F328-A1FD-DEDC1A162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BF86A-9BF1-2D03-D292-904F5DB2D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6062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AE1F-7C58-D84A-AD8C-2DFB2988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ABE0F-12F5-D13F-2CD0-5B614DD44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17FAC-D562-A525-88A9-3B3950337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9839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06B58-0E5F-B669-5AD9-39F8698F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CD159-9AD5-5935-611D-CF06F3ED0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D466B-3804-6722-9EDF-04CFD760D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1089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150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github.com/ehadziabdic/Crossroad-Trafficlight-System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microsoft.com/office/2017/06/relationships/model3d" Target="../media/model3d1.glb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17/06/relationships/model3d" Target="../media/model3d1.glb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40080" y="3072067"/>
            <a:ext cx="10881360" cy="15850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 dirty="0">
                <a:solidFill>
                  <a:srgbClr val="FFFFFF"/>
                </a:solidFill>
                <a:latin typeface="Space Grotesk"/>
              </a:rPr>
              <a:t>OTOKA CROSSROAD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0" dirty="0">
                <a:solidFill>
                  <a:srgbClr val="C9CFD6"/>
                </a:solidFill>
                <a:latin typeface="Plus Jakarta Sans"/>
              </a:rPr>
              <a:t>Traffic-light controller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rgbClr val="9AA3AD"/>
                </a:solidFill>
                <a:latin typeface="JetBrains Mono"/>
              </a:rPr>
              <a:t>Formal verification of a synchronous Moore FSM · 4 states · 6 properties · 5 DIP packages · zero-error PCB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5895091"/>
            <a:ext cx="1280160" cy="548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" y="5978530"/>
            <a:ext cx="10881360" cy="4873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C9CFD6"/>
                </a:solidFill>
                <a:latin typeface="Plus Jakarta Sans"/>
              </a:rPr>
              <a:t>Emin Hadžiabdić  ·  Armin </a:t>
            </a:r>
            <a:r>
              <a:rPr sz="1300" b="0" dirty="0" err="1">
                <a:solidFill>
                  <a:srgbClr val="C9CFD6"/>
                </a:solidFill>
                <a:latin typeface="Plus Jakarta Sans"/>
              </a:rPr>
              <a:t>Memišević</a:t>
            </a:r>
            <a:r>
              <a:rPr sz="1300" b="0" dirty="0">
                <a:solidFill>
                  <a:srgbClr val="C9CFD6"/>
                </a:solidFill>
                <a:latin typeface="Plus Jakarta Sans"/>
              </a:rPr>
              <a:t>  ·  Muhammed Pašić </a:t>
            </a:r>
            <a:r>
              <a:rPr lang="en-150" sz="1300" b="0" dirty="0">
                <a:solidFill>
                  <a:srgbClr val="C9CFD6"/>
                </a:solidFill>
                <a:latin typeface="Plus Jakarta Sans"/>
              </a:rPr>
              <a:t>     </a:t>
            </a:r>
            <a:r>
              <a:rPr sz="1300" b="0" dirty="0">
                <a:solidFill>
                  <a:srgbClr val="C9CFD6"/>
                </a:solidFill>
                <a:latin typeface="Plus Jakarta Sans"/>
              </a:rPr>
              <a:t>|      Prof. Dr. Aida Branković  ·  ETF Sarajevo  ·  2025/26</a:t>
            </a:r>
          </a:p>
          <a:p>
            <a:r>
              <a:rPr lang="en-US" sz="1100" b="0" dirty="0">
                <a:solidFill>
                  <a:srgbClr val="7A848E"/>
                </a:solidFill>
                <a:latin typeface="Plus Jakarta Sans"/>
              </a:rPr>
              <a:t>Logic Design</a:t>
            </a:r>
            <a:r>
              <a:rPr lang="en-150" sz="1100" dirty="0">
                <a:solidFill>
                  <a:srgbClr val="7A848E"/>
                </a:solidFill>
                <a:latin typeface="Plus Jakarta Sans"/>
              </a:rPr>
              <a:t> ·</a:t>
            </a:r>
            <a:r>
              <a:rPr lang="en-US" sz="1100" b="0" dirty="0">
                <a:solidFill>
                  <a:srgbClr val="7A848E"/>
                </a:solidFill>
                <a:latin typeface="Plus Jakarta Sans"/>
              </a:rPr>
              <a:t> Formal V</a:t>
            </a:r>
            <a:r>
              <a:rPr lang="en-US" sz="1100" dirty="0">
                <a:solidFill>
                  <a:srgbClr val="7A848E"/>
                </a:solidFill>
                <a:latin typeface="Plus Jakarta Sans"/>
              </a:rPr>
              <a:t>erification </a:t>
            </a:r>
            <a:r>
              <a:rPr lang="en-150" sz="1100" dirty="0">
                <a:solidFill>
                  <a:srgbClr val="7A848E"/>
                </a:solidFill>
                <a:latin typeface="Plus Jakarta Sans"/>
              </a:rPr>
              <a:t>· </a:t>
            </a:r>
            <a:r>
              <a:rPr lang="en-US" sz="1100" dirty="0">
                <a:solidFill>
                  <a:srgbClr val="7A848E"/>
                </a:solidFill>
                <a:latin typeface="Plus Jakarta Sans"/>
              </a:rPr>
              <a:t> Electronic </a:t>
            </a:r>
            <a:r>
              <a:rPr sz="1100" b="0" dirty="0">
                <a:solidFill>
                  <a:srgbClr val="7A848E"/>
                </a:solidFill>
                <a:latin typeface="Plus Jakarta Sans"/>
              </a:rPr>
              <a:t>Schematic</a:t>
            </a:r>
            <a:r>
              <a:rPr lang="en-US" sz="1100" b="0" dirty="0">
                <a:solidFill>
                  <a:srgbClr val="7A848E"/>
                </a:solidFill>
                <a:latin typeface="Plus Jakarta Sans"/>
              </a:rPr>
              <a:t>s</a:t>
            </a:r>
            <a:r>
              <a:rPr sz="1100" b="0" dirty="0">
                <a:solidFill>
                  <a:srgbClr val="7A848E"/>
                </a:solidFill>
                <a:latin typeface="Plus Jakarta Sans"/>
              </a:rPr>
              <a:t> </a:t>
            </a:r>
            <a:r>
              <a:rPr lang="en-150" sz="1100" dirty="0">
                <a:solidFill>
                  <a:srgbClr val="7A848E"/>
                </a:solidFill>
                <a:latin typeface="Plus Jakarta Sans"/>
              </a:rPr>
              <a:t>· </a:t>
            </a:r>
            <a:r>
              <a:rPr sz="1100" b="0" dirty="0">
                <a:solidFill>
                  <a:srgbClr val="7A848E"/>
                </a:solidFill>
                <a:latin typeface="Plus Jakarta Sans"/>
              </a:rPr>
              <a:t>PCB</a:t>
            </a:r>
            <a:r>
              <a:rPr lang="en-US" sz="1100" b="0" dirty="0">
                <a:solidFill>
                  <a:srgbClr val="7A848E"/>
                </a:solidFill>
                <a:latin typeface="Plus Jakarta Sans"/>
              </a:rPr>
              <a:t> Design</a:t>
            </a:r>
            <a:r>
              <a:rPr sz="1100" b="0" dirty="0">
                <a:solidFill>
                  <a:srgbClr val="7A848E"/>
                </a:solidFill>
                <a:latin typeface="Plus Jakarta Sans"/>
              </a:rPr>
              <a:t> · </a:t>
            </a:r>
            <a:r>
              <a:rPr lang="en-US" sz="1100" b="0" dirty="0">
                <a:solidFill>
                  <a:srgbClr val="7A848E"/>
                </a:solidFill>
                <a:latin typeface="Plus Jakarta Sans"/>
              </a:rPr>
              <a:t>Practical Implementation</a:t>
            </a:r>
            <a:endParaRPr sz="1100" b="0" dirty="0">
              <a:solidFill>
                <a:srgbClr val="7A848E"/>
              </a:solidFill>
              <a:latin typeface="Plus Jakarta San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>
                <a:extLst>
                  <a:ext uri="{FF2B5EF4-FFF2-40B4-BE49-F238E27FC236}">
                    <a16:creationId xmlns:a16="http://schemas.microsoft.com/office/drawing/2014/main" id="{FCEBDA8B-2A98-CA63-6A05-6F069361AC8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83176938"/>
                  </p:ext>
                </p:extLst>
              </p:nvPr>
            </p:nvGraphicFramePr>
            <p:xfrm rot="2065303">
              <a:off x="6985160" y="-1429758"/>
              <a:ext cx="9103039" cy="6065330"/>
            </p:xfrm>
            <a:graphic>
              <a:graphicData uri="http://schemas.microsoft.com/office/drawing/2017/model3d">
                <am3d:model3d r:embed="rId3">
                  <am3d:spPr>
                    <a:xfrm rot="2065303">
                      <a:off x="0" y="0"/>
                      <a:ext cx="9103039" cy="6065330"/>
                    </a:xfrm>
                    <a:prstGeom prst="rect">
                      <a:avLst/>
                    </a:prstGeom>
                  </am3d:spPr>
                  <am3d:camera>
                    <am3d:pos x="0" y="0" z="563528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21" d="1000000"/>
                    <am3d:preTrans dx="18000000" dy="47967" dz="18597003"/>
                    <am3d:scale>
                      <am3d:sx n="1000000" d="1000000"/>
                      <am3d:sy n="1000000" d="1000000"/>
                      <am3d:sz n="1000000" d="1000000"/>
                    </am3d:scale>
                    <am3d:rot ax="3882880" ay="203740" az="42881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01741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>
                <a:extLst>
                  <a:ext uri="{FF2B5EF4-FFF2-40B4-BE49-F238E27FC236}">
                    <a16:creationId xmlns:a16="http://schemas.microsoft.com/office/drawing/2014/main" id="{FCEBDA8B-2A98-CA63-6A05-6F069361AC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2065303">
                <a:off x="6985160" y="-1429758"/>
                <a:ext cx="9103039" cy="606533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ounded Rectangle 100">
            <a:extLst>
              <a:ext uri="{FF2B5EF4-FFF2-40B4-BE49-F238E27FC236}">
                <a16:creationId xmlns:a16="http://schemas.microsoft.com/office/drawing/2014/main" id="{05327EDC-A0E7-D695-05AD-BA24D33E57A1}"/>
              </a:ext>
            </a:extLst>
          </p:cNvPr>
          <p:cNvSpPr/>
          <p:nvPr/>
        </p:nvSpPr>
        <p:spPr>
          <a:xfrm>
            <a:off x="719328" y="321090"/>
            <a:ext cx="4754880" cy="420985"/>
          </a:xfrm>
          <a:prstGeom prst="roundRect">
            <a:avLst>
              <a:gd name="adj" fmla="val 50000"/>
            </a:avLst>
          </a:prstGeom>
          <a:pattFill prst="pct25">
            <a:fgClr>
              <a:schemeClr val="bg2">
                <a:lumMod val="50000"/>
              </a:schemeClr>
            </a:fgClr>
            <a:bgClr>
              <a:srgbClr val="0E1319"/>
            </a:bgClr>
          </a:patt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FF5BD4-12A8-9F4A-E474-6DBE0193F1A0}"/>
              </a:ext>
            </a:extLst>
          </p:cNvPr>
          <p:cNvSpPr txBox="1"/>
          <p:nvPr/>
        </p:nvSpPr>
        <p:spPr>
          <a:xfrm>
            <a:off x="1155352" y="392157"/>
            <a:ext cx="431885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>
              <a:spcAft>
                <a:spcPts val="400"/>
              </a:spcAft>
              <a:defRPr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Space Grotesk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https://github.com/ehadziabdic/Crossroad-Trafficlight-System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</p:txBody>
      </p:sp>
      <p:pic>
        <p:nvPicPr>
          <p:cNvPr id="17" name="Picture 16" descr="Github git Icon">
            <a:extLst>
              <a:ext uri="{FF2B5EF4-FFF2-40B4-BE49-F238E27FC236}">
                <a16:creationId xmlns:a16="http://schemas.microsoft.com/office/drawing/2014/main" id="{597EF883-6972-0CE4-0709-FC58D59272B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6218" y="322941"/>
            <a:ext cx="419134" cy="4191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418"/>
                </a:solidFill>
                <a:latin typeface="JetBrains Mono"/>
              </a:rPr>
              <a:t>OTOKA CROSSROAD  ·  FORMAL MODELS  ·  ETF SARAJEVO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841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solidFill>
                  <a:schemeClr val="bg1"/>
                </a:solidFill>
                <a:latin typeface="Space Grotesk"/>
              </a:rPr>
              <a:t>Introduction </a:t>
            </a:r>
            <a:r>
              <a:rPr lang="en-US" sz="3400" b="1" dirty="0">
                <a:solidFill>
                  <a:schemeClr val="bg1"/>
                </a:solidFill>
                <a:latin typeface="Space Grotesk"/>
              </a:rPr>
              <a:t>-</a:t>
            </a:r>
            <a:r>
              <a:rPr sz="3400" b="1" dirty="0">
                <a:solidFill>
                  <a:schemeClr val="bg1"/>
                </a:solidFill>
                <a:latin typeface="Space Grotesk"/>
              </a:rPr>
              <a:t> </a:t>
            </a:r>
            <a:r>
              <a:rPr lang="en-US" sz="3400" b="1" dirty="0">
                <a:solidFill>
                  <a:schemeClr val="bg1"/>
                </a:solidFill>
                <a:latin typeface="Space Grotesk"/>
              </a:rPr>
              <a:t>T</a:t>
            </a:r>
            <a:r>
              <a:rPr sz="3400" b="1" dirty="0">
                <a:solidFill>
                  <a:schemeClr val="bg1"/>
                </a:solidFill>
                <a:latin typeface="Space Grotesk"/>
              </a:rPr>
              <a:t>he </a:t>
            </a:r>
            <a:r>
              <a:rPr sz="3400" b="1" dirty="0" err="1">
                <a:solidFill>
                  <a:schemeClr val="bg1"/>
                </a:solidFill>
                <a:latin typeface="Space Grotesk"/>
              </a:rPr>
              <a:t>Otoka</a:t>
            </a:r>
            <a:r>
              <a:rPr sz="3400" b="1" dirty="0">
                <a:solidFill>
                  <a:schemeClr val="bg1"/>
                </a:solidFill>
                <a:latin typeface="Space Grotesk"/>
              </a:rPr>
              <a:t> </a:t>
            </a:r>
            <a:r>
              <a:rPr lang="en-US" sz="3400" b="1" dirty="0">
                <a:solidFill>
                  <a:schemeClr val="bg1"/>
                </a:solidFill>
                <a:latin typeface="Space Grotesk"/>
              </a:rPr>
              <a:t>Crossroad</a:t>
            </a:r>
            <a:endParaRPr sz="3400" b="1" dirty="0">
              <a:solidFill>
                <a:schemeClr val="bg1"/>
              </a:solidFill>
              <a:latin typeface="Space Grotesk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dirty="0" err="1">
                <a:solidFill>
                  <a:srgbClr val="9AA3AD"/>
                </a:solidFill>
                <a:latin typeface="JetBrains Mono"/>
              </a:rPr>
              <a:t>Bulevar</a:t>
            </a:r>
            <a:r>
              <a:rPr sz="1300" dirty="0">
                <a:solidFill>
                  <a:srgbClr val="9AA3AD"/>
                </a:solidFill>
                <a:latin typeface="JetBrains Mono"/>
              </a:rPr>
              <a:t> </a:t>
            </a:r>
            <a:r>
              <a:rPr sz="1300" dirty="0" err="1">
                <a:solidFill>
                  <a:srgbClr val="9AA3AD"/>
                </a:solidFill>
                <a:latin typeface="JetBrains Mono"/>
              </a:rPr>
              <a:t>Meše</a:t>
            </a:r>
            <a:r>
              <a:rPr sz="1300" dirty="0">
                <a:solidFill>
                  <a:srgbClr val="9AA3AD"/>
                </a:solidFill>
                <a:latin typeface="JetBrains Mono"/>
              </a:rPr>
              <a:t> </a:t>
            </a:r>
            <a:r>
              <a:rPr sz="1300" dirty="0" err="1">
                <a:solidFill>
                  <a:srgbClr val="9AA3AD"/>
                </a:solidFill>
                <a:latin typeface="JetBrains Mono"/>
              </a:rPr>
              <a:t>Selimovića</a:t>
            </a:r>
            <a:r>
              <a:rPr sz="1300" dirty="0">
                <a:solidFill>
                  <a:srgbClr val="9AA3AD"/>
                </a:solidFill>
                <a:latin typeface="JetBrains Mono"/>
              </a:rPr>
              <a:t> × </a:t>
            </a:r>
            <a:r>
              <a:rPr sz="1300" dirty="0" err="1">
                <a:solidFill>
                  <a:srgbClr val="9AA3AD"/>
                </a:solidFill>
                <a:latin typeface="JetBrains Mono"/>
              </a:rPr>
              <a:t>Buća</a:t>
            </a:r>
            <a:r>
              <a:rPr sz="1300" dirty="0">
                <a:solidFill>
                  <a:srgbClr val="9AA3AD"/>
                </a:solidFill>
                <a:latin typeface="JetBrains Mono"/>
              </a:rPr>
              <a:t> Potok / </a:t>
            </a:r>
            <a:r>
              <a:rPr sz="1300" dirty="0" err="1">
                <a:solidFill>
                  <a:srgbClr val="9AA3AD"/>
                </a:solidFill>
                <a:latin typeface="JetBrains Mono"/>
              </a:rPr>
              <a:t>Aneks</a:t>
            </a:r>
            <a:r>
              <a:rPr sz="1300" dirty="0">
                <a:solidFill>
                  <a:srgbClr val="9AA3AD"/>
                </a:solidFill>
                <a:latin typeface="JetBrains Mono"/>
              </a:rPr>
              <a:t> · prove first, then solder.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" y="2112264"/>
            <a:ext cx="64008" cy="2359152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2944368" cy="2432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1418"/>
                </a:solidFill>
                <a:latin typeface="Space Grotesk"/>
              </a:rPr>
              <a:t>Never two greens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570"/>
                </a:solidFill>
                <a:latin typeface="Plus Jakarta Sans"/>
              </a:rPr>
              <a:t>Conflicting movements mutually exclusive at all times — not merely in normal operation.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659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25696" y="2112264"/>
            <a:ext cx="64008" cy="2359152"/>
          </a:xfrm>
          <a:prstGeom prst="round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075688"/>
            <a:ext cx="2944368" cy="2432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1418"/>
                </a:solidFill>
                <a:latin typeface="Space Grotesk"/>
              </a:rPr>
              <a:t>Never starve a driver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570"/>
                </a:solidFill>
                <a:latin typeface="Plus Jakarta Sans"/>
              </a:rPr>
              <a:t>Every red approach turns green within a bounded number of ticks.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965960"/>
            <a:ext cx="33832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83296" y="2112264"/>
            <a:ext cx="64008" cy="2359152"/>
          </a:xfrm>
          <a:prstGeom prst="roundRect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2075688"/>
            <a:ext cx="2944368" cy="2432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1418"/>
                </a:solidFill>
                <a:latin typeface="Space Grotesk"/>
              </a:rPr>
              <a:t>Never snap to 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570"/>
                </a:solidFill>
                <a:latin typeface="Plus Jakarta Sans"/>
              </a:rPr>
              <a:t>Green → yellow → red. Abrupt changes cause rear-end collisions.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10881360" cy="1234440"/>
          </a:xfrm>
          <a:prstGeom prst="round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67C2E"/>
                </a:solidFill>
                <a:latin typeface="JetBrains Mono"/>
              </a:rPr>
              <a:t>METHOD  —  SPECIFY → PROVE →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lus Jakarta Sans"/>
              </a:rPr>
              <a:t>Testing shows a fault did not occur during observation. Proof shows it is impossible. Six properties, four models, one board.</a:t>
            </a: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9AB6DCD1-959C-4E50-92DA-1E5D93E2A6A9}"/>
              </a:ext>
            </a:extLst>
          </p:cNvPr>
          <p:cNvSpPr/>
          <p:nvPr/>
        </p:nvSpPr>
        <p:spPr>
          <a:xfrm>
            <a:off x="2524832" y="2778440"/>
            <a:ext cx="7075279" cy="1383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highlight>
                  <a:srgbClr val="FF0000"/>
                </a:highlight>
              </a:rPr>
              <a:t>TEMPLATE</a:t>
            </a:r>
            <a:endParaRPr sz="4000" b="1"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BB36F-2485-1381-CACE-BE77C154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5A507C5-ADC8-A557-8FE4-B9ED8D671880}"/>
              </a:ext>
            </a:extLst>
          </p:cNvPr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E492A92-97C8-FDC0-B33F-BF735392CD0A}"/>
              </a:ext>
            </a:extLst>
          </p:cNvPr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AA5C68B-ED5A-1B5F-02E2-09DD66D1E16D}"/>
              </a:ext>
            </a:extLst>
          </p:cNvPr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00C7B-B00D-AF49-9767-2C4E1B0C4172}"/>
              </a:ext>
            </a:extLst>
          </p:cNvPr>
          <p:cNvSpPr txBox="1"/>
          <p:nvPr/>
        </p:nvSpPr>
        <p:spPr>
          <a:xfrm>
            <a:off x="1371600" y="256032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418"/>
                </a:solidFill>
                <a:latin typeface="JetBrains Mono"/>
              </a:rPr>
              <a:t>OTOKA CROSSROAD  ·  FORMAL MODELS  ·  ETF SARAJEVO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BD1A9B-9090-F56F-8CE4-0D75DCB33033}"/>
              </a:ext>
            </a:extLst>
          </p:cNvPr>
          <p:cNvSpPr txBox="1"/>
          <p:nvPr/>
        </p:nvSpPr>
        <p:spPr>
          <a:xfrm>
            <a:off x="0" y="2967335"/>
            <a:ext cx="12192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6000" b="1" dirty="0">
                <a:solidFill>
                  <a:srgbClr val="FFFFFF"/>
                </a:solidFill>
                <a:latin typeface="Space Grotesk"/>
              </a:rPr>
              <a:t>LOGIC DESIGN &amp; VERIFICATION</a:t>
            </a:r>
            <a:endParaRPr sz="6000" b="1" dirty="0">
              <a:solidFill>
                <a:srgbClr val="FFFFFF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256741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"/>
            <a:ext cx="101498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101418"/>
                </a:solidFill>
                <a:latin typeface="JetBrains Mono"/>
              </a:rPr>
              <a:t>LOGIC DESIGN &amp; VERIFICATION – Logic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dirty="0">
                <a:solidFill>
                  <a:srgbClr val="101418"/>
                </a:solidFill>
                <a:latin typeface="Space Grotesk"/>
              </a:rPr>
              <a:t>2 · Logic design — synchronous Moore FSM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5B6570"/>
                </a:solidFill>
                <a:latin typeface="Plus Jakarta Sans"/>
              </a:rPr>
              <a:t>Up-count encoding · one XOR + one inverter · zero OR gates.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58521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JetBrains Mono"/>
                        </a:rPr>
                        <a:t>State</a:t>
                      </a:r>
                    </a:p>
                  </a:txBody>
                  <a:tcPr anchor="ctr">
                    <a:solidFill>
                      <a:srgbClr val="1014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JetBrains Mono"/>
                        </a:rPr>
                        <a:t>Q1 Q0</a:t>
                      </a:r>
                    </a:p>
                  </a:txBody>
                  <a:tcPr anchor="ctr">
                    <a:solidFill>
                      <a:srgbClr val="1014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JetBrains Mono"/>
                        </a:rPr>
                        <a:t>East–West</a:t>
                      </a:r>
                    </a:p>
                  </a:txBody>
                  <a:tcPr anchor="ctr">
                    <a:solidFill>
                      <a:srgbClr val="1014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JetBrains Mono"/>
                        </a:rPr>
                        <a:t>North–South</a:t>
                      </a:r>
                    </a:p>
                  </a:txBody>
                  <a:tcPr anchor="ctr">
                    <a:solidFill>
                      <a:srgbClr val="1014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Plus Jakarta Sans"/>
                        </a:rPr>
                        <a:t>S0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Plus Jakarta Sans"/>
                        </a:rPr>
                        <a:t>0  0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D64545"/>
                          </a:solidFill>
                          <a:latin typeface="Space Grotesk"/>
                        </a:rPr>
                        <a:t>GREEN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Space Grotesk"/>
                        </a:rPr>
                        <a:t>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Plus Jakarta Sans"/>
                        </a:rPr>
                        <a:t>S1</a:t>
                      </a:r>
                    </a:p>
                  </a:txBody>
                  <a:tcPr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Plus Jakarta Sans"/>
                        </a:rPr>
                        <a:t>0  1</a:t>
                      </a:r>
                    </a:p>
                  </a:txBody>
                  <a:tcPr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E8A838"/>
                          </a:solidFill>
                          <a:latin typeface="Space Grotesk"/>
                        </a:rPr>
                        <a:t>YELLOW</a:t>
                      </a:r>
                    </a:p>
                  </a:txBody>
                  <a:tcPr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Space Grotesk"/>
                        </a:rPr>
                        <a:t>RED</a:t>
                      </a:r>
                    </a:p>
                  </a:txBody>
                  <a:tcPr anchor="ctr">
                    <a:solidFill>
                      <a:srgbClr val="E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Plus Jakarta Sans"/>
                        </a:rPr>
                        <a:t>S2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Plus Jakarta Sans"/>
                        </a:rPr>
                        <a:t>1  0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Space Grotesk"/>
                        </a:rPr>
                        <a:t>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D64545"/>
                          </a:solidFill>
                          <a:latin typeface="Space Grotesk"/>
                        </a:rPr>
                        <a:t>GREEN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Plus Jakarta Sans"/>
                        </a:rPr>
                        <a:t>S3</a:t>
                      </a:r>
                    </a:p>
                  </a:txBody>
                  <a:tcPr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Plus Jakarta Sans"/>
                        </a:rPr>
                        <a:t>1  1</a:t>
                      </a:r>
                    </a:p>
                  </a:txBody>
                  <a:tcPr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101418"/>
                          </a:solidFill>
                          <a:latin typeface="Space Grotesk"/>
                        </a:rPr>
                        <a:t>RED</a:t>
                      </a:r>
                    </a:p>
                  </a:txBody>
                  <a:tcPr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E8A838"/>
                          </a:solidFill>
                          <a:latin typeface="Space Grotesk"/>
                        </a:rPr>
                        <a:t>YELLOW</a:t>
                      </a:r>
                    </a:p>
                  </a:txBody>
                  <a:tcPr anchor="ctr">
                    <a:solidFill>
                      <a:srgbClr val="E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1965960"/>
            <a:ext cx="4663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86016" y="2112264"/>
            <a:ext cx="64008" cy="103327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0608" y="2057400"/>
            <a:ext cx="422452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67C2E"/>
                </a:solidFill>
                <a:latin typeface="JetBrains Mono"/>
              </a:rPr>
              <a:t>Next state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418"/>
                </a:solidFill>
                <a:latin typeface="JetBrains Mono"/>
              </a:rPr>
              <a:t>D1 = Q1 ⊕ Q0</a:t>
            </a:r>
            <a:br/>
            <a:r>
              <a:rPr sz="1200" b="0">
                <a:solidFill>
                  <a:srgbClr val="101418"/>
                </a:solidFill>
                <a:latin typeface="JetBrains Mono"/>
              </a:rPr>
              <a:t>D0 = ¬Q0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447288"/>
            <a:ext cx="4663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86016" y="3593592"/>
            <a:ext cx="64008" cy="1033271"/>
          </a:xfrm>
          <a:prstGeom prst="round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0608" y="3538728"/>
            <a:ext cx="422452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67C2E"/>
                </a:solidFill>
                <a:latin typeface="JetBrains Mono"/>
              </a:rPr>
              <a:t>Outputs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418"/>
                </a:solidFill>
                <a:latin typeface="JetBrains Mono"/>
              </a:rPr>
              <a:t>GEW=¬Q1·¬Q0  YEW=¬Q1·Q0  REW=Q1</a:t>
            </a:r>
            <a:br/>
            <a:r>
              <a:rPr sz="1200" b="0">
                <a:solidFill>
                  <a:srgbClr val="101418"/>
                </a:solidFill>
                <a:latin typeface="JetBrains Mono"/>
              </a:rPr>
              <a:t>GNS=Q1·¬Q0  YNS=Q1·Q0  RNS=¬Q1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928616"/>
            <a:ext cx="4663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86016" y="5074920"/>
            <a:ext cx="64008" cy="1033271"/>
          </a:xfrm>
          <a:prstGeom prst="roundRect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50608" y="5020056"/>
            <a:ext cx="422452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67C2E"/>
                </a:solidFill>
                <a:latin typeface="JetBrains Mono"/>
              </a:rPr>
              <a:t>Why it is safe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1418"/>
                </a:solidFill>
                <a:latin typeface="JetBrains Mono"/>
              </a:rPr>
              <a:t>GEW needs Q1=0, GNS needs Q1=1 — one wire, one voltage. Conflict excluded by encoding.</a:t>
            </a: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4F9E80B6-FAB5-F75C-8707-42C69C4AE574}"/>
              </a:ext>
            </a:extLst>
          </p:cNvPr>
          <p:cNvSpPr/>
          <p:nvPr/>
        </p:nvSpPr>
        <p:spPr>
          <a:xfrm>
            <a:off x="2524832" y="2778440"/>
            <a:ext cx="7075279" cy="1383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highlight>
                  <a:srgbClr val="FF0000"/>
                </a:highlight>
              </a:rPr>
              <a:t>TEMPLATE</a:t>
            </a:r>
            <a:endParaRPr sz="4000" b="1"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"/>
            <a:ext cx="101498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101418"/>
                </a:solidFill>
                <a:latin typeface="JetBrains Mono"/>
              </a:rPr>
              <a:t>LOGIC DESIGN &amp; VERIFICATION – Formal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01418"/>
                </a:solidFill>
                <a:latin typeface="Space Grotesk"/>
              </a:rPr>
              <a:t>3 · Formal verification — four models, six properties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570"/>
                </a:solidFill>
                <a:latin typeface="Plus Jakarta Sans"/>
              </a:rPr>
              <a:t>Each model chosen for what the others express poorly.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035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" y="2112264"/>
            <a:ext cx="64008" cy="1307592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486460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1418"/>
                </a:solidFill>
                <a:latin typeface="Space Grotesk"/>
              </a:rPr>
              <a:t>LTS  ·  graph facts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570"/>
                </a:solidFill>
                <a:latin typeface="Plus Jakarta Sans"/>
              </a:rPr>
              <a:t>Proc={S0..S3}, Act={clk}. Reachability by traces; out-degree 1 → deadlock-free single 4-cycle.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3035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45936" y="2112264"/>
            <a:ext cx="64008" cy="1307592"/>
          </a:xfrm>
          <a:prstGeom prst="round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075688"/>
            <a:ext cx="486460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1418"/>
                </a:solidFill>
                <a:latin typeface="Space Grotesk"/>
              </a:rPr>
              <a:t>PETRI NET  ·  structure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570"/>
                </a:solidFill>
                <a:latin typeface="Plus Jakarta Sans"/>
              </a:rPr>
              <a:t>P-invariants: exactly 1 lamp per approach. T=(1,1,1,1) cycle. C·n=ΔM inconsistent → crash unreachable.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3035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8096" y="3895344"/>
            <a:ext cx="64008" cy="1307592"/>
          </a:xfrm>
          <a:prstGeom prst="round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858768"/>
            <a:ext cx="486460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1418"/>
                </a:solidFill>
                <a:latin typeface="Space Grotesk"/>
              </a:rPr>
              <a:t>LTL  ·  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570"/>
                </a:solidFill>
                <a:latin typeface="Plus Jakarta Sans"/>
              </a:rPr>
              <a:t>G¬(GEW∧GNS) by tautology + BMC k=4 · G(RNS⇒FGNS) ≤2 ticks · G(GEW⇒XYEW).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3035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45936" y="3895344"/>
            <a:ext cx="64008" cy="1307592"/>
          </a:xfrm>
          <a:prstGeom prst="roundRect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858768"/>
            <a:ext cx="486460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1418"/>
                </a:solidFill>
                <a:latin typeface="Space Grotesk"/>
              </a:rPr>
              <a:t>MARKOV  ·  faults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570"/>
                </a:solidFill>
                <a:latin typeface="Plus Jakarta Sans"/>
              </a:rPr>
              <a:t>0.97 intended / 0.01 glitch. Crash prob. stays 0. Bellman U(S0)≈47.95, U(S1)≈42.05.</a:t>
            </a: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68CF6E22-6CEB-9C8C-BAAE-ACBB336428B5}"/>
              </a:ext>
            </a:extLst>
          </p:cNvPr>
          <p:cNvSpPr/>
          <p:nvPr/>
        </p:nvSpPr>
        <p:spPr>
          <a:xfrm>
            <a:off x="2524832" y="2778440"/>
            <a:ext cx="7075279" cy="1383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highlight>
                  <a:srgbClr val="FF0000"/>
                </a:highlight>
              </a:rPr>
              <a:t>TEMPLATE</a:t>
            </a:r>
            <a:endParaRPr sz="4000" b="1"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D5A53-3FB7-9FE5-E51C-FA291B2C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CB9911F-07DF-3A50-23EB-A194F2FA130A}"/>
              </a:ext>
            </a:extLst>
          </p:cNvPr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AF45DE2-7CCD-86C1-7794-CB2FEBAAA500}"/>
              </a:ext>
            </a:extLst>
          </p:cNvPr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DF4D11-3123-B59E-2564-A75E0EC0E4BE}"/>
              </a:ext>
            </a:extLst>
          </p:cNvPr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64925-E37E-4A26-32F7-34BDE061D0B6}"/>
              </a:ext>
            </a:extLst>
          </p:cNvPr>
          <p:cNvSpPr txBox="1"/>
          <p:nvPr/>
        </p:nvSpPr>
        <p:spPr>
          <a:xfrm>
            <a:off x="1371600" y="256032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000" b="1" i="0" u="none" strike="noStrike" kern="0" cap="none" spc="0" normalizeH="0" baseline="0" noProof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JetBrains Mono"/>
                <a:cs typeface="Arial"/>
                <a:sym typeface="Arial"/>
              </a:rPr>
              <a:t>OTOKA CROSSROAD  ·  FORMAL MODELS  ·  ETF SARAJEVO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585AA-EE5F-E30E-7BD2-9F6EE1D8FB6D}"/>
              </a:ext>
            </a:extLst>
          </p:cNvPr>
          <p:cNvSpPr txBox="1"/>
          <p:nvPr/>
        </p:nvSpPr>
        <p:spPr>
          <a:xfrm>
            <a:off x="-15240" y="3172393"/>
            <a:ext cx="12192000" cy="196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DIGITAL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IMPLEMENTATION &amp; SIMULATION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>
                <a:extLst>
                  <a:ext uri="{FF2B5EF4-FFF2-40B4-BE49-F238E27FC236}">
                    <a16:creationId xmlns:a16="http://schemas.microsoft.com/office/drawing/2014/main" id="{602648E6-B734-9410-A2A4-DDCB85B5263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97180"/>
                  </p:ext>
                </p:extLst>
              </p:nvPr>
            </p:nvGraphicFramePr>
            <p:xfrm>
              <a:off x="-2590859" y="-2957709"/>
              <a:ext cx="9579545" cy="755771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579545" cy="7557714"/>
                    </a:xfrm>
                    <a:prstGeom prst="rect">
                      <a:avLst/>
                    </a:prstGeom>
                  </am3d:spPr>
                  <am3d:camera>
                    <am3d:pos x="0" y="0" z="563528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21" d="1000000"/>
                    <am3d:preTrans dx="18000000" dy="47967" dz="18597003"/>
                    <am3d:scale>
                      <am3d:sx n="1000000" d="1000000"/>
                      <am3d:sy n="1000000" d="1000000"/>
                      <am3d:sz n="1000000" d="1000000"/>
                    </am3d:scale>
                    <am3d:rot ax="2879159" ay="1209976" az="125648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030327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>
                <a:extLst>
                  <a:ext uri="{FF2B5EF4-FFF2-40B4-BE49-F238E27FC236}">
                    <a16:creationId xmlns:a16="http://schemas.microsoft.com/office/drawing/2014/main" id="{602648E6-B734-9410-A2A4-DDCB85B526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590859" y="-2957709"/>
                <a:ext cx="9579545" cy="75577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2107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9C97B-48F2-DE02-202B-125A6476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E7E138E-0A57-A0EA-9E00-19B4B9560BEA}"/>
              </a:ext>
            </a:extLst>
          </p:cNvPr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F4FC6E-DCA5-BE48-E4ED-877A8CAC3199}"/>
              </a:ext>
            </a:extLst>
          </p:cNvPr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6EF412-8132-6C1C-FCA3-AAF180FDE3F2}"/>
              </a:ext>
            </a:extLst>
          </p:cNvPr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578BF-A082-92D0-6527-CDD2EFD093CB}"/>
              </a:ext>
            </a:extLst>
          </p:cNvPr>
          <p:cNvSpPr txBox="1"/>
          <p:nvPr/>
        </p:nvSpPr>
        <p:spPr>
          <a:xfrm>
            <a:off x="1371600" y="256032"/>
            <a:ext cx="101498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DIGITAL IMPLEMENTATION &amp; SIMULATION – Electrical Schematics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D3CE07-89D7-45DB-751A-EF2C81B0F1A2}"/>
              </a:ext>
            </a:extLst>
          </p:cNvPr>
          <p:cNvSpPr/>
          <p:nvPr/>
        </p:nvSpPr>
        <p:spPr>
          <a:xfrm>
            <a:off x="640080" y="6380539"/>
            <a:ext cx="1005840" cy="50292"/>
          </a:xfrm>
          <a:prstGeom prst="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>
                <a:extLst>
                  <a:ext uri="{FF2B5EF4-FFF2-40B4-BE49-F238E27FC236}">
                    <a16:creationId xmlns:a16="http://schemas.microsoft.com/office/drawing/2014/main" id="{4089F29D-BD90-5F23-5946-D5A52EDFB7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6910513"/>
                  </p:ext>
                </p:extLst>
              </p:nvPr>
            </p:nvGraphicFramePr>
            <p:xfrm rot="17241842">
              <a:off x="8863159" y="1376672"/>
              <a:ext cx="7093233" cy="4625426"/>
            </p:xfrm>
            <a:graphic>
              <a:graphicData uri="http://schemas.microsoft.com/office/drawing/2017/model3d">
                <am3d:model3d r:embed="rId3">
                  <am3d:spPr>
                    <a:xfrm rot="17241842">
                      <a:off x="0" y="0"/>
                      <a:ext cx="7093233" cy="4625426"/>
                    </a:xfrm>
                    <a:prstGeom prst="rect">
                      <a:avLst/>
                    </a:prstGeom>
                  </am3d:spPr>
                  <am3d:camera>
                    <am3d:pos x="0" y="0" z="563528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21" d="1000000"/>
                    <am3d:preTrans dx="18000000" dy="47967" dz="18597003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90940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>
                <a:extLst>
                  <a:ext uri="{FF2B5EF4-FFF2-40B4-BE49-F238E27FC236}">
                    <a16:creationId xmlns:a16="http://schemas.microsoft.com/office/drawing/2014/main" id="{4089F29D-BD90-5F23-5946-D5A52EDFB7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7241842">
                <a:off x="8863159" y="1376672"/>
                <a:ext cx="7093233" cy="4625426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Rounded Rectangle 100">
            <a:extLst>
              <a:ext uri="{FF2B5EF4-FFF2-40B4-BE49-F238E27FC236}">
                <a16:creationId xmlns:a16="http://schemas.microsoft.com/office/drawing/2014/main" id="{915A354B-4AA4-C643-6821-91ECC1E0B457}"/>
              </a:ext>
            </a:extLst>
          </p:cNvPr>
          <p:cNvSpPr/>
          <p:nvPr/>
        </p:nvSpPr>
        <p:spPr>
          <a:xfrm>
            <a:off x="6766560" y="1071322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0" name="Rounded Rectangle 101">
            <a:extLst>
              <a:ext uri="{FF2B5EF4-FFF2-40B4-BE49-F238E27FC236}">
                <a16:creationId xmlns:a16="http://schemas.microsoft.com/office/drawing/2014/main" id="{095EFD2C-FB02-4225-6D53-D4310C4C5F56}"/>
              </a:ext>
            </a:extLst>
          </p:cNvPr>
          <p:cNvSpPr/>
          <p:nvPr/>
        </p:nvSpPr>
        <p:spPr>
          <a:xfrm>
            <a:off x="6894576" y="1217626"/>
            <a:ext cx="64008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74FB4E-4CA1-6325-0281-DBB78AAED2B9}"/>
              </a:ext>
            </a:extLst>
          </p:cNvPr>
          <p:cNvSpPr txBox="1"/>
          <p:nvPr/>
        </p:nvSpPr>
        <p:spPr>
          <a:xfrm>
            <a:off x="7059168" y="1181050"/>
            <a:ext cx="4315968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Title / Main claim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101418"/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5B6570"/>
                </a:solidFill>
                <a:effectLst/>
                <a:uLnTx/>
                <a:uFillTx/>
                <a:latin typeface="Plus Jakarta Sans"/>
                <a:cs typeface="Arial"/>
                <a:sym typeface="Arial"/>
              </a:rPr>
              <a:t>text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5B6570"/>
              </a:solidFill>
              <a:effectLst/>
              <a:uLnTx/>
              <a:uFillTx/>
              <a:latin typeface="Plus Jakarta Sans"/>
              <a:cs typeface="Arial"/>
              <a:sym typeface="Arial"/>
            </a:endParaRPr>
          </a:p>
        </p:txBody>
      </p:sp>
      <p:sp>
        <p:nvSpPr>
          <p:cNvPr id="24" name="Rounded Rectangle 100">
            <a:extLst>
              <a:ext uri="{FF2B5EF4-FFF2-40B4-BE49-F238E27FC236}">
                <a16:creationId xmlns:a16="http://schemas.microsoft.com/office/drawing/2014/main" id="{E7549C84-ADE1-CB8F-B994-E6B526A3F178}"/>
              </a:ext>
            </a:extLst>
          </p:cNvPr>
          <p:cNvSpPr/>
          <p:nvPr/>
        </p:nvSpPr>
        <p:spPr>
          <a:xfrm>
            <a:off x="6766560" y="2735710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6" name="Rounded Rectangle 101">
            <a:extLst>
              <a:ext uri="{FF2B5EF4-FFF2-40B4-BE49-F238E27FC236}">
                <a16:creationId xmlns:a16="http://schemas.microsoft.com/office/drawing/2014/main" id="{FDCB3B06-C3B6-09A0-84B4-8734161D05F5}"/>
              </a:ext>
            </a:extLst>
          </p:cNvPr>
          <p:cNvSpPr/>
          <p:nvPr/>
        </p:nvSpPr>
        <p:spPr>
          <a:xfrm>
            <a:off x="6894576" y="2882014"/>
            <a:ext cx="64008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29E823-8480-94BE-4B91-18666FEB7327}"/>
              </a:ext>
            </a:extLst>
          </p:cNvPr>
          <p:cNvSpPr txBox="1"/>
          <p:nvPr/>
        </p:nvSpPr>
        <p:spPr>
          <a:xfrm>
            <a:off x="7059168" y="2845438"/>
            <a:ext cx="4315968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Title / Main claim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101418"/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5B6570"/>
                </a:solidFill>
                <a:effectLst/>
                <a:uLnTx/>
                <a:uFillTx/>
                <a:latin typeface="Plus Jakarta Sans"/>
                <a:cs typeface="Arial"/>
                <a:sym typeface="Arial"/>
              </a:rPr>
              <a:t>text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5B6570"/>
              </a:solidFill>
              <a:effectLst/>
              <a:uLnTx/>
              <a:uFillTx/>
              <a:latin typeface="Plus Jakarta Sans"/>
              <a:cs typeface="Arial"/>
              <a:sym typeface="Arial"/>
            </a:endParaRPr>
          </a:p>
        </p:txBody>
      </p:sp>
      <p:sp>
        <p:nvSpPr>
          <p:cNvPr id="30" name="Rounded Rectangle 100">
            <a:extLst>
              <a:ext uri="{FF2B5EF4-FFF2-40B4-BE49-F238E27FC236}">
                <a16:creationId xmlns:a16="http://schemas.microsoft.com/office/drawing/2014/main" id="{B7956730-449E-0C61-AB51-F4578706F863}"/>
              </a:ext>
            </a:extLst>
          </p:cNvPr>
          <p:cNvSpPr/>
          <p:nvPr/>
        </p:nvSpPr>
        <p:spPr>
          <a:xfrm>
            <a:off x="6766560" y="4400098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2" name="Rounded Rectangle 101">
            <a:extLst>
              <a:ext uri="{FF2B5EF4-FFF2-40B4-BE49-F238E27FC236}">
                <a16:creationId xmlns:a16="http://schemas.microsoft.com/office/drawing/2014/main" id="{4634E5D9-5DCC-0292-15C1-0D3FFC2DD7E0}"/>
              </a:ext>
            </a:extLst>
          </p:cNvPr>
          <p:cNvSpPr/>
          <p:nvPr/>
        </p:nvSpPr>
        <p:spPr>
          <a:xfrm>
            <a:off x="6894576" y="4546402"/>
            <a:ext cx="64008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C0EE1E-AB98-4783-5D38-58D706BDE84A}"/>
              </a:ext>
            </a:extLst>
          </p:cNvPr>
          <p:cNvSpPr txBox="1"/>
          <p:nvPr/>
        </p:nvSpPr>
        <p:spPr>
          <a:xfrm>
            <a:off x="7059168" y="4509826"/>
            <a:ext cx="4315968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Title / Main claim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101418"/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5B6570"/>
                </a:solidFill>
                <a:effectLst/>
                <a:uLnTx/>
                <a:uFillTx/>
                <a:latin typeface="Plus Jakarta Sans"/>
                <a:cs typeface="Arial"/>
                <a:sym typeface="Arial"/>
              </a:rPr>
              <a:t>text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5B6570"/>
              </a:solidFill>
              <a:effectLst/>
              <a:uLnTx/>
              <a:uFillTx/>
              <a:latin typeface="Plus Jakarta Sans"/>
              <a:cs typeface="Arial"/>
              <a:sym typeface="Arial"/>
            </a:endParaRPr>
          </a:p>
        </p:txBody>
      </p:sp>
      <p:pic>
        <p:nvPicPr>
          <p:cNvPr id="8" name="Google Shape;99;g3f8baf29581_0_11" title="3. Crossroad - Scheme.png">
            <a:extLst>
              <a:ext uri="{FF2B5EF4-FFF2-40B4-BE49-F238E27FC236}">
                <a16:creationId xmlns:a16="http://schemas.microsoft.com/office/drawing/2014/main" id="{DE110373-48E7-F0BD-74E1-6B1D1B4272D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80" y="1181050"/>
            <a:ext cx="5852160" cy="45190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070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064C6-806C-8998-0DD1-B95E3475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121B046-F309-1D8F-A2C5-26A2D0AEF9AE}"/>
              </a:ext>
            </a:extLst>
          </p:cNvPr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2DACA47-128C-469C-6092-911FFE4BE5B8}"/>
              </a:ext>
            </a:extLst>
          </p:cNvPr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B16239-3A73-BA81-C966-C2C173B7C259}"/>
              </a:ext>
            </a:extLst>
          </p:cNvPr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77D86-77CF-33D6-B76F-CB61F6FE8FD1}"/>
              </a:ext>
            </a:extLst>
          </p:cNvPr>
          <p:cNvSpPr txBox="1"/>
          <p:nvPr/>
        </p:nvSpPr>
        <p:spPr>
          <a:xfrm>
            <a:off x="1371600" y="256032"/>
            <a:ext cx="101498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DIGITAL IMPLEMENTATION &amp; SIMULATION – Simulation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3F4525-84FF-D942-EDF2-9070D0166FD3}"/>
              </a:ext>
            </a:extLst>
          </p:cNvPr>
          <p:cNvSpPr/>
          <p:nvPr/>
        </p:nvSpPr>
        <p:spPr>
          <a:xfrm>
            <a:off x="640080" y="6380539"/>
            <a:ext cx="1005840" cy="50292"/>
          </a:xfrm>
          <a:prstGeom prst="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13">
                <a:extLst>
                  <a:ext uri="{FF2B5EF4-FFF2-40B4-BE49-F238E27FC236}">
                    <a16:creationId xmlns:a16="http://schemas.microsoft.com/office/drawing/2014/main" id="{EEE3B4B3-5BB2-B586-4072-E134F7B93DF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61702052"/>
                  </p:ext>
                </p:extLst>
              </p:nvPr>
            </p:nvGraphicFramePr>
            <p:xfrm>
              <a:off x="6797042" y="4084942"/>
              <a:ext cx="8837701" cy="304419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8837701" cy="3044192"/>
                    </a:xfrm>
                    <a:prstGeom prst="rect">
                      <a:avLst/>
                    </a:prstGeom>
                  </am3d:spPr>
                  <am3d:camera>
                    <am3d:pos x="0" y="0" z="563528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21" d="1000000"/>
                    <am3d:preTrans dx="18000000" dy="47967" dz="18597003"/>
                    <am3d:scale>
                      <am3d:sx n="1000000" d="1000000"/>
                      <am3d:sy n="1000000" d="1000000"/>
                      <am3d:sz n="1000000" d="1000000"/>
                    </am3d:scale>
                    <am3d:rot ax="1296330" ay="-621437" az="-244333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90405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13">
                <a:extLst>
                  <a:ext uri="{FF2B5EF4-FFF2-40B4-BE49-F238E27FC236}">
                    <a16:creationId xmlns:a16="http://schemas.microsoft.com/office/drawing/2014/main" id="{EEE3B4B3-5BB2-B586-4072-E134F7B93D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97042" y="4084942"/>
                <a:ext cx="8837701" cy="3044192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Rounded Rectangle 100">
            <a:extLst>
              <a:ext uri="{FF2B5EF4-FFF2-40B4-BE49-F238E27FC236}">
                <a16:creationId xmlns:a16="http://schemas.microsoft.com/office/drawing/2014/main" id="{F8C7B10A-B9F2-8F17-F7D8-A7E01B55D500}"/>
              </a:ext>
            </a:extLst>
          </p:cNvPr>
          <p:cNvSpPr/>
          <p:nvPr/>
        </p:nvSpPr>
        <p:spPr>
          <a:xfrm>
            <a:off x="640080" y="819228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0" name="Rounded Rectangle 101">
            <a:extLst>
              <a:ext uri="{FF2B5EF4-FFF2-40B4-BE49-F238E27FC236}">
                <a16:creationId xmlns:a16="http://schemas.microsoft.com/office/drawing/2014/main" id="{EC69A32B-6374-5D24-3917-A7424F55A115}"/>
              </a:ext>
            </a:extLst>
          </p:cNvPr>
          <p:cNvSpPr/>
          <p:nvPr/>
        </p:nvSpPr>
        <p:spPr>
          <a:xfrm>
            <a:off x="768096" y="965532"/>
            <a:ext cx="64008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322982-E68C-665B-7162-024EC27EF4E0}"/>
              </a:ext>
            </a:extLst>
          </p:cNvPr>
          <p:cNvSpPr txBox="1"/>
          <p:nvPr/>
        </p:nvSpPr>
        <p:spPr>
          <a:xfrm>
            <a:off x="932688" y="928956"/>
            <a:ext cx="4315968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Title / Main claim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101418"/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5B6570"/>
                </a:solidFill>
                <a:effectLst/>
                <a:uLnTx/>
                <a:uFillTx/>
                <a:latin typeface="Plus Jakarta Sans"/>
                <a:cs typeface="Arial"/>
                <a:sym typeface="Arial"/>
              </a:rPr>
              <a:t>text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5B6570"/>
              </a:solidFill>
              <a:effectLst/>
              <a:uLnTx/>
              <a:uFillTx/>
              <a:latin typeface="Plus Jakarta Sans"/>
              <a:cs typeface="Arial"/>
              <a:sym typeface="Arial"/>
            </a:endParaRPr>
          </a:p>
        </p:txBody>
      </p:sp>
      <p:sp>
        <p:nvSpPr>
          <p:cNvPr id="24" name="Rounded Rectangle 100">
            <a:extLst>
              <a:ext uri="{FF2B5EF4-FFF2-40B4-BE49-F238E27FC236}">
                <a16:creationId xmlns:a16="http://schemas.microsoft.com/office/drawing/2014/main" id="{175A0A7A-70EC-588C-F65A-8B6BEC0BFCA2}"/>
              </a:ext>
            </a:extLst>
          </p:cNvPr>
          <p:cNvSpPr/>
          <p:nvPr/>
        </p:nvSpPr>
        <p:spPr>
          <a:xfrm>
            <a:off x="640080" y="2483616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6" name="Rounded Rectangle 101">
            <a:extLst>
              <a:ext uri="{FF2B5EF4-FFF2-40B4-BE49-F238E27FC236}">
                <a16:creationId xmlns:a16="http://schemas.microsoft.com/office/drawing/2014/main" id="{ADF16CE1-5AAE-0F77-B31B-630713FA1180}"/>
              </a:ext>
            </a:extLst>
          </p:cNvPr>
          <p:cNvSpPr/>
          <p:nvPr/>
        </p:nvSpPr>
        <p:spPr>
          <a:xfrm>
            <a:off x="768096" y="2629920"/>
            <a:ext cx="64008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4A7171-C5E7-F42D-6937-E267E0479A0F}"/>
              </a:ext>
            </a:extLst>
          </p:cNvPr>
          <p:cNvSpPr txBox="1"/>
          <p:nvPr/>
        </p:nvSpPr>
        <p:spPr>
          <a:xfrm>
            <a:off x="932688" y="2593344"/>
            <a:ext cx="4315968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Title / Main claim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101418"/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5B6570"/>
                </a:solidFill>
                <a:effectLst/>
                <a:uLnTx/>
                <a:uFillTx/>
                <a:latin typeface="Plus Jakarta Sans"/>
                <a:cs typeface="Arial"/>
                <a:sym typeface="Arial"/>
              </a:rPr>
              <a:t>text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5B6570"/>
              </a:solidFill>
              <a:effectLst/>
              <a:uLnTx/>
              <a:uFillTx/>
              <a:latin typeface="Plus Jakarta Sans"/>
              <a:cs typeface="Arial"/>
              <a:sym typeface="Arial"/>
            </a:endParaRPr>
          </a:p>
        </p:txBody>
      </p:sp>
      <p:sp>
        <p:nvSpPr>
          <p:cNvPr id="30" name="Rounded Rectangle 100">
            <a:extLst>
              <a:ext uri="{FF2B5EF4-FFF2-40B4-BE49-F238E27FC236}">
                <a16:creationId xmlns:a16="http://schemas.microsoft.com/office/drawing/2014/main" id="{E4BE3182-7027-B5E6-B38F-DA19BD8E9EB8}"/>
              </a:ext>
            </a:extLst>
          </p:cNvPr>
          <p:cNvSpPr/>
          <p:nvPr/>
        </p:nvSpPr>
        <p:spPr>
          <a:xfrm>
            <a:off x="640080" y="4148004"/>
            <a:ext cx="4754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2" name="Rounded Rectangle 101">
            <a:extLst>
              <a:ext uri="{FF2B5EF4-FFF2-40B4-BE49-F238E27FC236}">
                <a16:creationId xmlns:a16="http://schemas.microsoft.com/office/drawing/2014/main" id="{5615FCFE-A82C-125D-CA92-06D1CF44AA7F}"/>
              </a:ext>
            </a:extLst>
          </p:cNvPr>
          <p:cNvSpPr/>
          <p:nvPr/>
        </p:nvSpPr>
        <p:spPr>
          <a:xfrm>
            <a:off x="768096" y="4294308"/>
            <a:ext cx="64008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D6ADDB-3A0C-2A3F-46F8-549454D8F845}"/>
              </a:ext>
            </a:extLst>
          </p:cNvPr>
          <p:cNvSpPr txBox="1"/>
          <p:nvPr/>
        </p:nvSpPr>
        <p:spPr>
          <a:xfrm>
            <a:off x="932688" y="4257732"/>
            <a:ext cx="4315968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Title / Main claim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101418"/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5B6570"/>
                </a:solidFill>
                <a:effectLst/>
                <a:uLnTx/>
                <a:uFillTx/>
                <a:latin typeface="Plus Jakarta Sans"/>
                <a:cs typeface="Arial"/>
                <a:sym typeface="Arial"/>
              </a:rPr>
              <a:t>text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5B6570"/>
              </a:solidFill>
              <a:effectLst/>
              <a:uLnTx/>
              <a:uFillTx/>
              <a:latin typeface="Plus Jakarta Sans"/>
              <a:cs typeface="Arial"/>
              <a:sym typeface="Arial"/>
            </a:endParaRPr>
          </a:p>
        </p:txBody>
      </p:sp>
      <p:pic>
        <p:nvPicPr>
          <p:cNvPr id="6" name="3. Simulation">
            <a:hlinkClick r:id="" action="ppaction://media"/>
            <a:extLst>
              <a:ext uri="{FF2B5EF4-FFF2-40B4-BE49-F238E27FC236}">
                <a16:creationId xmlns:a16="http://schemas.microsoft.com/office/drawing/2014/main" id="{12649AE1-875F-4D37-C1B7-CBFD9D896D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92801" y="819228"/>
            <a:ext cx="5805714" cy="32657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6521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"/>
            <a:ext cx="1014984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000" b="1" dirty="0">
                <a:solidFill>
                  <a:srgbClr val="101418"/>
                </a:solidFill>
                <a:latin typeface="Space Grotesk"/>
              </a:rPr>
              <a:t>DIGITAL IMPLEMENTATION &amp; SIMULATION – PCB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80539"/>
            <a:ext cx="1005840" cy="50292"/>
          </a:xfrm>
          <a:prstGeom prst="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Google Shape;94;g3f8baf29581_0_5" title="3. Crossroad - PCB.png">
            <a:extLst>
              <a:ext uri="{FF2B5EF4-FFF2-40B4-BE49-F238E27FC236}">
                <a16:creationId xmlns:a16="http://schemas.microsoft.com/office/drawing/2014/main" id="{46E5248A-E4DE-3D20-2F34-6485D19D55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7" y="2323598"/>
            <a:ext cx="5691043" cy="376546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ounded Rectangle 100">
            <a:extLst>
              <a:ext uri="{FF2B5EF4-FFF2-40B4-BE49-F238E27FC236}">
                <a16:creationId xmlns:a16="http://schemas.microsoft.com/office/drawing/2014/main" id="{83444036-DB75-1373-E08B-D197CDBACEA8}"/>
              </a:ext>
            </a:extLst>
          </p:cNvPr>
          <p:cNvSpPr/>
          <p:nvPr/>
        </p:nvSpPr>
        <p:spPr>
          <a:xfrm>
            <a:off x="640079" y="819228"/>
            <a:ext cx="5691041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ounded Rectangle 101">
            <a:extLst>
              <a:ext uri="{FF2B5EF4-FFF2-40B4-BE49-F238E27FC236}">
                <a16:creationId xmlns:a16="http://schemas.microsoft.com/office/drawing/2014/main" id="{9C13122E-C0DB-3BFE-F9C8-E42CC0851E46}"/>
              </a:ext>
            </a:extLst>
          </p:cNvPr>
          <p:cNvSpPr/>
          <p:nvPr/>
        </p:nvSpPr>
        <p:spPr>
          <a:xfrm>
            <a:off x="768095" y="965532"/>
            <a:ext cx="72169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37E380-DA72-566C-6127-36D8B7DB623E}"/>
              </a:ext>
            </a:extLst>
          </p:cNvPr>
          <p:cNvSpPr txBox="1"/>
          <p:nvPr/>
        </p:nvSpPr>
        <p:spPr>
          <a:xfrm>
            <a:off x="932687" y="928956"/>
            <a:ext cx="4866251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200" b="1" dirty="0">
                <a:solidFill>
                  <a:srgbClr val="101418"/>
                </a:solidFill>
                <a:latin typeface="Space Grotesk"/>
              </a:rPr>
              <a:t>Title / Main claim</a:t>
            </a:r>
            <a:endParaRPr sz="1200" b="1" dirty="0">
              <a:solidFill>
                <a:srgbClr val="101418"/>
              </a:solidFill>
              <a:latin typeface="Space Grotesk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B6570"/>
                </a:solidFill>
                <a:latin typeface="Plus Jakarta Sans"/>
              </a:rPr>
              <a:t>text</a:t>
            </a:r>
            <a:endParaRPr sz="1100" b="0" dirty="0">
              <a:solidFill>
                <a:srgbClr val="5B6570"/>
              </a:solidFill>
              <a:latin typeface="Plus Jakarta Sans"/>
            </a:endParaRPr>
          </a:p>
        </p:txBody>
      </p:sp>
      <p:sp>
        <p:nvSpPr>
          <p:cNvPr id="24" name="Rounded Rectangle 100">
            <a:extLst>
              <a:ext uri="{FF2B5EF4-FFF2-40B4-BE49-F238E27FC236}">
                <a16:creationId xmlns:a16="http://schemas.microsoft.com/office/drawing/2014/main" id="{0C4998A9-64A8-C8C4-B71A-3E35F531F65D}"/>
              </a:ext>
            </a:extLst>
          </p:cNvPr>
          <p:cNvSpPr/>
          <p:nvPr/>
        </p:nvSpPr>
        <p:spPr>
          <a:xfrm>
            <a:off x="6736662" y="819228"/>
            <a:ext cx="4815259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ounded Rectangle 101">
            <a:extLst>
              <a:ext uri="{FF2B5EF4-FFF2-40B4-BE49-F238E27FC236}">
                <a16:creationId xmlns:a16="http://schemas.microsoft.com/office/drawing/2014/main" id="{93976A49-0FDF-5BAE-D885-123B4C678680}"/>
              </a:ext>
            </a:extLst>
          </p:cNvPr>
          <p:cNvSpPr/>
          <p:nvPr/>
        </p:nvSpPr>
        <p:spPr>
          <a:xfrm>
            <a:off x="6864678" y="965532"/>
            <a:ext cx="64821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427C6D-6DE3-20A3-07AF-4495179175AD}"/>
              </a:ext>
            </a:extLst>
          </p:cNvPr>
          <p:cNvSpPr txBox="1"/>
          <p:nvPr/>
        </p:nvSpPr>
        <p:spPr>
          <a:xfrm>
            <a:off x="7029271" y="928956"/>
            <a:ext cx="4370774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200" b="1" dirty="0">
                <a:solidFill>
                  <a:srgbClr val="101418"/>
                </a:solidFill>
                <a:latin typeface="Space Grotesk"/>
              </a:rPr>
              <a:t>Title / Main claim</a:t>
            </a:r>
            <a:endParaRPr sz="1200" b="1" dirty="0">
              <a:solidFill>
                <a:srgbClr val="101418"/>
              </a:solidFill>
              <a:latin typeface="Space Grotesk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B6570"/>
                </a:solidFill>
                <a:latin typeface="Plus Jakarta Sans"/>
              </a:rPr>
              <a:t>text</a:t>
            </a:r>
            <a:endParaRPr sz="1100" b="0" dirty="0">
              <a:solidFill>
                <a:srgbClr val="5B6570"/>
              </a:solidFill>
              <a:latin typeface="Plus Jakarta Sans"/>
            </a:endParaRPr>
          </a:p>
        </p:txBody>
      </p:sp>
      <p:sp>
        <p:nvSpPr>
          <p:cNvPr id="30" name="Rounded Rectangle 100">
            <a:extLst>
              <a:ext uri="{FF2B5EF4-FFF2-40B4-BE49-F238E27FC236}">
                <a16:creationId xmlns:a16="http://schemas.microsoft.com/office/drawing/2014/main" id="{A894249E-F348-DB19-2766-DA7A3583A60C}"/>
              </a:ext>
            </a:extLst>
          </p:cNvPr>
          <p:cNvSpPr/>
          <p:nvPr/>
        </p:nvSpPr>
        <p:spPr>
          <a:xfrm>
            <a:off x="6736662" y="2323598"/>
            <a:ext cx="4815259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ounded Rectangle 101">
            <a:extLst>
              <a:ext uri="{FF2B5EF4-FFF2-40B4-BE49-F238E27FC236}">
                <a16:creationId xmlns:a16="http://schemas.microsoft.com/office/drawing/2014/main" id="{E9FB6848-ACE9-3DD0-1C70-EC9DA163050B}"/>
              </a:ext>
            </a:extLst>
          </p:cNvPr>
          <p:cNvSpPr/>
          <p:nvPr/>
        </p:nvSpPr>
        <p:spPr>
          <a:xfrm>
            <a:off x="6864678" y="2469902"/>
            <a:ext cx="64821" cy="987551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D504DB-9F1C-DC49-DC1D-B03469D11A19}"/>
              </a:ext>
            </a:extLst>
          </p:cNvPr>
          <p:cNvSpPr txBox="1"/>
          <p:nvPr/>
        </p:nvSpPr>
        <p:spPr>
          <a:xfrm>
            <a:off x="7029271" y="2433326"/>
            <a:ext cx="4370774" cy="497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200" b="1" dirty="0">
                <a:solidFill>
                  <a:srgbClr val="101418"/>
                </a:solidFill>
                <a:latin typeface="Space Grotesk"/>
              </a:rPr>
              <a:t>Title / Main claim</a:t>
            </a:r>
            <a:endParaRPr sz="1200" b="1" dirty="0">
              <a:solidFill>
                <a:srgbClr val="101418"/>
              </a:solidFill>
              <a:latin typeface="Space Grotesk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5B6570"/>
                </a:solidFill>
                <a:latin typeface="Plus Jakarta Sans"/>
              </a:rPr>
              <a:t>text</a:t>
            </a:r>
            <a:endParaRPr sz="1100" b="0" dirty="0">
              <a:solidFill>
                <a:srgbClr val="5B6570"/>
              </a:solidFill>
              <a:latin typeface="Plus Jakarta Sans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3D Model 35">
                <a:extLst>
                  <a:ext uri="{FF2B5EF4-FFF2-40B4-BE49-F238E27FC236}">
                    <a16:creationId xmlns:a16="http://schemas.microsoft.com/office/drawing/2014/main" id="{0E2AF96D-7948-8A05-9DB3-8DF124FC1E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20339494"/>
                  </p:ext>
                </p:extLst>
              </p:nvPr>
            </p:nvGraphicFramePr>
            <p:xfrm>
              <a:off x="7090324" y="3827968"/>
              <a:ext cx="4107934" cy="267470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107934" cy="2674703"/>
                    </a:xfrm>
                    <a:prstGeom prst="rect">
                      <a:avLst/>
                    </a:prstGeom>
                  </am3d:spPr>
                  <am3d:camera>
                    <am3d:pos x="0" y="0" z="563528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6621" d="1000000"/>
                    <am3d:preTrans dx="18000000" dy="47967" dz="18597003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26668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3D Model 35">
                <a:extLst>
                  <a:ext uri="{FF2B5EF4-FFF2-40B4-BE49-F238E27FC236}">
                    <a16:creationId xmlns:a16="http://schemas.microsoft.com/office/drawing/2014/main" id="{0E2AF96D-7948-8A05-9DB3-8DF124FC1E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0324" y="3827968"/>
                <a:ext cx="4107934" cy="267470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C9FDF-DA72-448B-23CE-0EFCFD58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B6D6EFD-E0A5-15A7-985E-9E62DE9CE494}"/>
              </a:ext>
            </a:extLst>
          </p:cNvPr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ABF5B44-C966-14CF-5E21-E2DB58E09F73}"/>
              </a:ext>
            </a:extLst>
          </p:cNvPr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4CFD13-A39D-98F4-79E0-2E82FD542138}"/>
              </a:ext>
            </a:extLst>
          </p:cNvPr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B81A3-EB81-55C8-4E09-4888E95B927A}"/>
              </a:ext>
            </a:extLst>
          </p:cNvPr>
          <p:cNvSpPr txBox="1"/>
          <p:nvPr/>
        </p:nvSpPr>
        <p:spPr>
          <a:xfrm>
            <a:off x="1371600" y="256032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1000" b="1" i="0" u="none" strike="noStrike" kern="0" cap="none" spc="0" normalizeH="0" baseline="0" noProof="0">
                <a:ln>
                  <a:noFill/>
                </a:ln>
                <a:solidFill>
                  <a:srgbClr val="101418"/>
                </a:solidFill>
                <a:effectLst/>
                <a:uLnTx/>
                <a:uFillTx/>
                <a:latin typeface="JetBrains Mono"/>
                <a:cs typeface="Arial"/>
                <a:sym typeface="Arial"/>
              </a:rPr>
              <a:t>OTOKA CROSSROAD  ·  FORMAL MODELS  ·  ETF SARAJEVO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D06AED-4745-355F-29C4-09D121588150}"/>
              </a:ext>
            </a:extLst>
          </p:cNvPr>
          <p:cNvSpPr txBox="1"/>
          <p:nvPr/>
        </p:nvSpPr>
        <p:spPr>
          <a:xfrm>
            <a:off x="0" y="2967335"/>
            <a:ext cx="12192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cs typeface="Arial"/>
                <a:sym typeface="Arial"/>
              </a:rPr>
              <a:t>PRACTICAL IMPLEMENTATION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ace Grotesk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0470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1418"/>
                </a:solidFill>
                <a:latin typeface="JetBrains Mono"/>
              </a:rPr>
              <a:t>OTOKA CROSSROAD  ·  FORMAL MODELS  ·  ETF SARAJEVO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101418"/>
                </a:solidFill>
                <a:latin typeface="Space Grotesk"/>
              </a:rPr>
              <a:t>5 · Practical implementation — layout to solder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570"/>
                </a:solidFill>
                <a:latin typeface="Plus Jakarta Sans"/>
              </a:rPr>
              <a:t>T40/T20 routing · Gerber X2 · assembled &amp; powered.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" y="2112264"/>
            <a:ext cx="64008" cy="1536192"/>
          </a:xfrm>
          <a:prstGeom prst="roundRect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4864608" cy="1609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1418"/>
                </a:solidFill>
                <a:latin typeface="Space Grotesk"/>
              </a:rPr>
              <a:t>POWER terminal  —  use this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570"/>
                </a:solidFill>
                <a:latin typeface="Plus Jakarta Sans"/>
              </a:rPr>
              <a:t>Straight to the 5 V rail, no diode. Feed regulated 5 V only (USB bank via cut lead). Reversing it is unprotected.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45936" y="2112264"/>
            <a:ext cx="64008" cy="1536192"/>
          </a:xfrm>
          <a:prstGeom prst="round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075688"/>
            <a:ext cx="4864608" cy="16093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1418"/>
                </a:solidFill>
                <a:latin typeface="Space Grotesk"/>
              </a:rPr>
              <a:t>B1 pads  —  battery input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570"/>
                </a:solidFill>
                <a:latin typeface="Plus Jakarta Sans"/>
              </a:rPr>
              <a:t>Unfitted through-holes via D13 (1N4007). 4×AA ≈6 V dropped toward 5 V + reverse blocking. Not the terminal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10881360" cy="1920240"/>
          </a:xfrm>
          <a:prstGeom prst="roundRect">
            <a:avLst/>
          </a:prstGeom>
          <a:solidFill>
            <a:srgbClr val="10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81381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67C2E"/>
                </a:solidFill>
                <a:latin typeface="JetBrains Mono"/>
              </a:rPr>
              <a:t>BUILT · SOLDERED · POWERED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Plus Jakarta Sans"/>
              </a:rPr>
              <a:t>Five DIPs · twelve LEDs as four heads · resistor banks · single POWER terminal · B1 left unfitted. The soldered board is the physical realisation of the proven controller.</a:t>
            </a:r>
          </a:p>
        </p:txBody>
      </p:sp>
      <p:pic>
        <p:nvPicPr>
          <p:cNvPr id="17" name="Picture 16" descr="IMG_30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4224528"/>
            <a:ext cx="1737360" cy="1600200"/>
          </a:xfrm>
          <a:prstGeom prst="rect">
            <a:avLst/>
          </a:prstGeom>
        </p:spPr>
      </p:pic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4BE8F75E-BF33-1C84-5376-57509D1178A8}"/>
              </a:ext>
            </a:extLst>
          </p:cNvPr>
          <p:cNvSpPr/>
          <p:nvPr/>
        </p:nvSpPr>
        <p:spPr>
          <a:xfrm>
            <a:off x="2524832" y="2778440"/>
            <a:ext cx="7075279" cy="1383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highlight>
                  <a:srgbClr val="FF0000"/>
                </a:highlight>
              </a:rPr>
              <a:t>TEMPLATE</a:t>
            </a:r>
            <a:endParaRPr sz="4000" b="1"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292608"/>
            <a:ext cx="128016" cy="12801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" y="292608"/>
            <a:ext cx="128016" cy="128016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" y="292608"/>
            <a:ext cx="128016" cy="128016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JetBrains Mono"/>
              </a:rPr>
              <a:t>OTOKA CROSSROAD  ·  FORMAL MODELS  ·  ETF SARAJEVO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pace Grotesk"/>
              </a:rPr>
              <a:t>Conclusion — proven, then built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lus Jakarta Sans"/>
              </a:rPr>
              <a:t>Six properties · four models · one 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005840" cy="50292"/>
          </a:xfrm>
          <a:prstGeom prst="rect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474720" cy="1325880"/>
          </a:xfrm>
          <a:prstGeom prst="round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2221991"/>
            <a:ext cx="182880" cy="182880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093976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Reachability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3AD"/>
                </a:solidFill>
                <a:latin typeface="JetBrains Mono"/>
              </a:rPr>
              <a:t>exactly 4 phases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474720" cy="1325880"/>
          </a:xfrm>
          <a:prstGeom prst="round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44568" y="2221991"/>
            <a:ext cx="182880" cy="182880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093976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Deadlock-free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3AD"/>
                </a:solidFill>
                <a:latin typeface="JetBrains Mono"/>
              </a:rPr>
              <a:t>out-degree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965960"/>
            <a:ext cx="3474720" cy="1325880"/>
          </a:xfrm>
          <a:prstGeom prst="round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47888" y="2221991"/>
            <a:ext cx="182880" cy="182880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093976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Liveness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3AD"/>
                </a:solidFill>
                <a:latin typeface="JetBrains Mono"/>
              </a:rPr>
              <a:t>green ≤2 ticks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39"/>
            <a:ext cx="3474720" cy="1325880"/>
          </a:xfrm>
          <a:prstGeom prst="round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1247" y="3776472"/>
            <a:ext cx="182880" cy="182880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648456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Safety ×2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3AD"/>
                </a:solidFill>
                <a:latin typeface="JetBrains Mono"/>
              </a:rPr>
              <a:t>tautology + invariants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20439"/>
            <a:ext cx="3474720" cy="1325880"/>
          </a:xfrm>
          <a:prstGeom prst="round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44568" y="3776472"/>
            <a:ext cx="182880" cy="182880"/>
          </a:xfrm>
          <a:prstGeom prst="ellipse">
            <a:avLst/>
          </a:prstGeom>
          <a:solidFill>
            <a:srgbClr val="3FA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3648456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Sequencing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3AD"/>
                </a:solidFill>
                <a:latin typeface="JetBrains Mono"/>
              </a:rPr>
              <a:t>yellow unskippable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520439"/>
            <a:ext cx="3474720" cy="1325880"/>
          </a:xfrm>
          <a:prstGeom prst="round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47888" y="3776472"/>
            <a:ext cx="182880" cy="182880"/>
          </a:xfrm>
          <a:prstGeom prst="ellipse">
            <a:avLst/>
          </a:prstGeom>
          <a:solidFill>
            <a:srgbClr val="C67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3648456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pace Grotesk"/>
              </a:rPr>
              <a:t>Robustness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AA3AD"/>
                </a:solidFill>
                <a:latin typeface="JetBrains Mono"/>
              </a:rPr>
              <a:t>U≈47.95 / 42.05</a:t>
            </a:r>
          </a:p>
        </p:txBody>
      </p:sp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DB858BA3-56E9-95F7-A606-09A416CA5A59}"/>
              </a:ext>
            </a:extLst>
          </p:cNvPr>
          <p:cNvSpPr/>
          <p:nvPr/>
        </p:nvSpPr>
        <p:spPr>
          <a:xfrm>
            <a:off x="2524832" y="2778440"/>
            <a:ext cx="7075279" cy="13834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  <a:highlight>
                  <a:srgbClr val="FF0000"/>
                </a:highlight>
              </a:rPr>
              <a:t>TEMPLATE</a:t>
            </a:r>
            <a:endParaRPr sz="4000" b="1" dirty="0">
              <a:solidFill>
                <a:schemeClr val="tx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723</Words>
  <Application>Microsoft Office PowerPoint</Application>
  <PresentationFormat>Widescreen</PresentationFormat>
  <Paragraphs>114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JetBrains Mono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Emin Hadziabdic</dc:creator>
  <cp:lastModifiedBy>Emin Hadziabdic</cp:lastModifiedBy>
  <cp:revision>7</cp:revision>
  <dcterms:created xsi:type="dcterms:W3CDTF">2026-09-03T00:43:13Z</dcterms:created>
  <dcterms:modified xsi:type="dcterms:W3CDTF">2026-09-04T00:03:13Z</dcterms:modified>
</cp:coreProperties>
</file>